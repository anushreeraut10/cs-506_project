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3" r:id="rId14"/>
    <p:sldId id="271" r:id="rId15"/>
    <p:sldId id="269" r:id="rId16"/>
    <p:sldId id="270" r:id="rId17"/>
    <p:sldId id="272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9"/>
    <p:restoredTop sz="94206"/>
  </p:normalViewPr>
  <p:slideViewPr>
    <p:cSldViewPr snapToGrid="0">
      <p:cViewPr varScale="1">
        <p:scale>
          <a:sx n="54" d="100"/>
          <a:sy n="54" d="100"/>
        </p:scale>
        <p:origin x="208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DAB9E8-DF20-AE4B-9958-CA0ADCD368E2}" type="datetimeFigureOut">
              <a:rPr lang="en-US" smtClean="0"/>
              <a:t>3/19/26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812F08-8AC4-7940-8633-EFA6FDC357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897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A255F-8235-A5D8-CE20-9E59EFA49A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F0621A-D762-6448-5825-0DBABECE17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CAED4-70D7-C52D-763E-AE55C5C23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5D993-847A-8A45-9C28-254A46C4D4B4}" type="datetimeFigureOut">
              <a:rPr lang="en-US" smtClean="0"/>
              <a:t>3/19/26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4A949-13BA-2173-BA67-363C9A209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6FABA-66E5-C073-F2DA-378FE9086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3EDD5-2641-3449-B8ED-588B52F994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578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1DD67-F541-C0A6-A287-54384A4E6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B0775-B122-F28F-8EE9-FBFA8943C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54F2B-25DC-463C-EA8E-2570651ED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5D993-847A-8A45-9C28-254A46C4D4B4}" type="datetimeFigureOut">
              <a:rPr lang="en-US" smtClean="0"/>
              <a:t>3/19/26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397C2-CCCE-F654-8EA0-A0D95BB8B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B5D61-2A95-032E-1912-51D5AEA34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3EDD5-2641-3449-B8ED-588B52F994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096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B6345-BCBF-D849-E2F4-B4D33F662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B7B310-63A5-E4DF-C68A-7896F8EB2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8F769-66A3-D0DC-D9B9-D1AE15058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5D993-847A-8A45-9C28-254A46C4D4B4}" type="datetimeFigureOut">
              <a:rPr lang="en-US" smtClean="0"/>
              <a:t>3/19/26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1F93E-B17E-CDD1-71FD-07BA9C8E4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88C1D-3FF3-5139-EF84-F8C149AAB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3EDD5-2641-3449-B8ED-588B52F994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131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9B8BD-F4E7-3D45-4CC4-AB2B55036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F7556-9F29-6DE8-B77C-E287602499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3D4830-4C6D-1837-09E2-057BD4B090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66A1F7-75D9-76AB-6E04-9442F099D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5D993-847A-8A45-9C28-254A46C4D4B4}" type="datetimeFigureOut">
              <a:rPr lang="en-US" smtClean="0"/>
              <a:t>3/19/26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DCBE02-02E2-B385-E70C-A4CE238CE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D0C1DD-2996-1793-C497-F6D2511A6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3EDD5-2641-3449-B8ED-588B52F994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120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E5220-847E-C85E-CA16-E8DD6679E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60F901-1B09-DA3C-141B-65D438F44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9D554-CFE6-DC65-5DC3-68867E1DB6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FA3EEF-4A6C-203B-D304-034BE79433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418A99-DEE4-C379-1966-D016E89CA8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32A158-C4CE-1932-8045-6963EB834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5D993-847A-8A45-9C28-254A46C4D4B4}" type="datetimeFigureOut">
              <a:rPr lang="en-US" smtClean="0"/>
              <a:t>3/19/26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8EE37D-197E-5806-4065-2CD796F72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7C0F44-AC12-A24A-A99B-4FB879E20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3EDD5-2641-3449-B8ED-588B52F994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706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0370E-54FE-A9C5-8178-75F41E1C1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223FE3-FAEC-9D20-4AE1-49288F435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5D993-847A-8A45-9C28-254A46C4D4B4}" type="datetimeFigureOut">
              <a:rPr lang="en-US" smtClean="0"/>
              <a:t>3/19/26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4EEA8A-613F-5CF4-5199-3A5AA04BA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2CF1E-2F5C-B8F2-3A10-E479680FC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3EDD5-2641-3449-B8ED-588B52F994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308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139531-AF5E-49B6-E6AF-783A69D27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5D993-847A-8A45-9C28-254A46C4D4B4}" type="datetimeFigureOut">
              <a:rPr lang="en-US" smtClean="0"/>
              <a:t>3/19/26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A2E3E3-7A04-2423-4145-01F92A411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ACCC91-16EA-D788-6E6D-0631A15EC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3EDD5-2641-3449-B8ED-588B52F994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425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AA88C-24D5-61C7-65FE-A8A47BE21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73B94-B20B-8815-BA07-678058BA5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BB921-D7A2-0FA0-57A7-7200029E87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CB48E4-B309-DC6C-3D1A-E0FE70CBD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5D993-847A-8A45-9C28-254A46C4D4B4}" type="datetimeFigureOut">
              <a:rPr lang="en-US" smtClean="0"/>
              <a:t>3/19/26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274FB8-4E4B-B20C-2945-0C3DD53EA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18ABE4-1A67-C7C5-9422-6B5191946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3EDD5-2641-3449-B8ED-588B52F994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853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4FABA-594B-3F35-F670-0A4E53C7D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E779E8-5FC4-C65D-8599-736354EB62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710465-B03D-D916-996C-D85A1DE61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DF20CF-23ED-6AA8-1644-60A247949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5D993-847A-8A45-9C28-254A46C4D4B4}" type="datetimeFigureOut">
              <a:rPr lang="en-US" smtClean="0"/>
              <a:t>3/19/26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179098-3FCE-1BF8-A214-ACD3B6EE7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BF5F1C-F09F-1E57-5CFD-C3C72E7E5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3EDD5-2641-3449-B8ED-588B52F994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38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53F54-AFCC-0FAE-4D32-AAFF1F52B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84EB8D-09A9-4FC7-20D2-0A6AF3C4B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3B571-9D07-90A8-D2D5-FB30B38B0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5D993-847A-8A45-9C28-254A46C4D4B4}" type="datetimeFigureOut">
              <a:rPr lang="en-US" smtClean="0"/>
              <a:t>3/19/26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7215E-3CA9-28B5-2B8D-1140E1557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B546C-226E-7FEE-8D0E-9640E565D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3EDD5-2641-3449-B8ED-588B52F994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009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42A0C4-A6BE-476D-15A6-6674EF8B43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BE5A9F-F3EB-BDF2-4BE5-109E9626D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8835A-E672-75D4-0F43-C18763B8A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5D993-847A-8A45-9C28-254A46C4D4B4}" type="datetimeFigureOut">
              <a:rPr lang="en-US" smtClean="0"/>
              <a:t>3/19/26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1C278-2444-9B72-35E9-7B316B5B1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2066E-92DB-3DC1-FA6F-D9683A03A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3EDD5-2641-3449-B8ED-588B52F994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3382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0059311" y="877033"/>
            <a:ext cx="1732400" cy="5772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243180" y="0"/>
            <a:ext cx="11548531" cy="6867451"/>
            <a:chOff x="0" y="-7088"/>
            <a:chExt cx="8661398" cy="5150588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 rot="10800000" flipH="1">
            <a:off x="2" y="1454351"/>
            <a:ext cx="11796669" cy="3949300"/>
            <a:chOff x="-8178042" y="-4493254"/>
            <a:chExt cx="19483598" cy="6522736"/>
          </a:xfrm>
        </p:grpSpPr>
        <p:sp>
          <p:nvSpPr>
            <p:cNvPr id="15" name="Google Shape;15;p2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4902982" y="5704465"/>
            <a:ext cx="7307772" cy="577328"/>
            <a:chOff x="5582265" y="4646738"/>
            <a:chExt cx="5480829" cy="432996"/>
          </a:xfrm>
        </p:grpSpPr>
        <p:sp>
          <p:nvSpPr>
            <p:cNvPr id="18" name="Google Shape;18;p2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grpSp>
          <p:nvGrpSpPr>
            <p:cNvPr id="19" name="Google Shape;19;p2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dirty="0"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dirty="0"/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914400" y="1454333"/>
            <a:ext cx="7157200" cy="394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>
                <a:latin typeface="+mj-l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4F7D0F-FE46-C945-87EB-0FD3D35652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657703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8848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5"/>
          <p:cNvGrpSpPr/>
          <p:nvPr/>
        </p:nvGrpSpPr>
        <p:grpSpPr>
          <a:xfrm>
            <a:off x="-6" y="54"/>
            <a:ext cx="9429907" cy="1769753"/>
            <a:chOff x="-4" y="40"/>
            <a:chExt cx="7072430" cy="1327315"/>
          </a:xfrm>
        </p:grpSpPr>
        <p:sp>
          <p:nvSpPr>
            <p:cNvPr id="63" name="Google Shape;63;p5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64" name="Google Shape;64;p5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65" name="Google Shape;65;p5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67" name="Google Shape;67;p5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68" name="Google Shape;68;p5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70" name="Google Shape;70;p5"/>
          <p:cNvGrpSpPr/>
          <p:nvPr/>
        </p:nvGrpSpPr>
        <p:grpSpPr>
          <a:xfrm>
            <a:off x="9262456" y="5963632"/>
            <a:ext cx="2937107" cy="894393"/>
            <a:chOff x="5575242" y="4472723"/>
            <a:chExt cx="2202830" cy="670795"/>
          </a:xfrm>
        </p:grpSpPr>
        <p:sp>
          <p:nvSpPr>
            <p:cNvPr id="71" name="Google Shape;71;p5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72" name="Google Shape;72;p5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73" name="Google Shape;73;p5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75" name="Google Shape;75;p5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76" name="Google Shape;76;p5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78" name="Google Shape;78;p5"/>
          <p:cNvSpPr txBox="1">
            <a:spLocks noGrp="1"/>
          </p:cNvSpPr>
          <p:nvPr>
            <p:ph type="title"/>
          </p:nvPr>
        </p:nvSpPr>
        <p:spPr>
          <a:xfrm>
            <a:off x="1085700" y="523433"/>
            <a:ext cx="7323200" cy="102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48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5"/>
          <p:cNvSpPr txBox="1">
            <a:spLocks noGrp="1"/>
          </p:cNvSpPr>
          <p:nvPr>
            <p:ph type="body" idx="1"/>
          </p:nvPr>
        </p:nvSpPr>
        <p:spPr>
          <a:xfrm>
            <a:off x="1085700" y="1769800"/>
            <a:ext cx="8176800" cy="419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609585" lvl="0" indent="-507987">
              <a:spcBef>
                <a:spcPts val="800"/>
              </a:spcBef>
              <a:spcAft>
                <a:spcPts val="0"/>
              </a:spcAft>
              <a:buSzPts val="2400"/>
              <a:buChar char="▰"/>
              <a:defRPr sz="3733">
                <a:latin typeface="+mn-lt"/>
              </a:defRPr>
            </a:lvl1pPr>
            <a:lvl2pPr marL="1219170" lvl="1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2pPr>
            <a:lvl3pPr marL="1828754" lvl="2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3pPr>
            <a:lvl4pPr marL="2438339" lvl="3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4pPr>
            <a:lvl5pPr marL="3047924" lvl="4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5pPr>
            <a:lvl6pPr marL="3657509" lvl="5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6pPr>
            <a:lvl7pPr marL="4267093" lvl="6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7pPr>
            <a:lvl8pPr marL="4876678" lvl="7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8pPr>
            <a:lvl9pPr marL="5486263" lvl="8" indent="-507987">
              <a:spcBef>
                <a:spcPts val="1333"/>
              </a:spcBef>
              <a:spcAft>
                <a:spcPts val="1333"/>
              </a:spcAft>
              <a:buSzPts val="2400"/>
              <a:buChar char="▻"/>
              <a:defRPr/>
            </a:lvl9pPr>
          </a:lstStyle>
          <a:p>
            <a:endParaRPr dirty="0"/>
          </a:p>
        </p:txBody>
      </p:sp>
      <p:sp>
        <p:nvSpPr>
          <p:cNvPr id="80" name="Google Shape;80;p5"/>
          <p:cNvSpPr txBox="1">
            <a:spLocks noGrp="1"/>
          </p:cNvSpPr>
          <p:nvPr>
            <p:ph type="sldNum" idx="12"/>
          </p:nvPr>
        </p:nvSpPr>
        <p:spPr>
          <a:xfrm>
            <a:off x="10157333" y="6182000"/>
            <a:ext cx="1983200" cy="4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8F7DB91-7595-E64B-B07D-A30575B2CB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671189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537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EC67F2-8208-010D-9ABC-7CC647DDF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25CF57-2CAD-3311-538F-B23294E46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6E0BE-0EF3-890F-B4E2-4EABE0FE3A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35D993-847A-8A45-9C28-254A46C4D4B4}" type="datetimeFigureOut">
              <a:rPr lang="en-US" smtClean="0"/>
              <a:t>3/19/26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D34EF-DE78-9959-2A3A-25F18D1CB1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B9DD3-4065-309E-4E9D-B14B545040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63EDD5-2641-3449-B8ED-588B52F994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244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>
            <a:spLocks noGrp="1"/>
          </p:cNvSpPr>
          <p:nvPr>
            <p:ph type="ctrTitle"/>
          </p:nvPr>
        </p:nvSpPr>
        <p:spPr>
          <a:xfrm>
            <a:off x="207435" y="1569494"/>
            <a:ext cx="9591323" cy="1300317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Introduction to PyTorch and Its Applications</a:t>
            </a:r>
          </a:p>
        </p:txBody>
      </p:sp>
      <p:sp>
        <p:nvSpPr>
          <p:cNvPr id="4" name="AutoShape 8" descr="Image result for city university of seattle logo we are all about the finish"/>
          <p:cNvSpPr>
            <a:spLocks noChangeAspect="1" noChangeArrowheads="1"/>
          </p:cNvSpPr>
          <p:nvPr/>
        </p:nvSpPr>
        <p:spPr bwMode="auto">
          <a:xfrm>
            <a:off x="207433" y="-192616"/>
            <a:ext cx="406400" cy="40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4" name="Google Shape;214;p13"/>
          <p:cNvSpPr txBox="1">
            <a:spLocks/>
          </p:cNvSpPr>
          <p:nvPr/>
        </p:nvSpPr>
        <p:spPr>
          <a:xfrm>
            <a:off x="16562" y="3001719"/>
            <a:ext cx="9782195" cy="2255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101597" indent="0" algn="ctr">
              <a:buNone/>
            </a:pPr>
            <a:r>
              <a:rPr lang="en-US" sz="2000" dirty="0">
                <a:solidFill>
                  <a:schemeClr val="bg1"/>
                </a:solidFill>
                <a:latin typeface="+mn-lt"/>
              </a:rPr>
              <a:t>Anushree Raut</a:t>
            </a:r>
            <a:br>
              <a:rPr lang="en-US" sz="2000" dirty="0">
                <a:solidFill>
                  <a:schemeClr val="bg1"/>
                </a:solidFill>
                <a:latin typeface="+mn-lt"/>
              </a:rPr>
            </a:br>
            <a:r>
              <a:rPr lang="en-US" sz="2000" dirty="0">
                <a:solidFill>
                  <a:schemeClr val="bg1"/>
                </a:solidFill>
                <a:latin typeface="+mn-lt"/>
              </a:rPr>
              <a:t>Amandeep Singh Saran</a:t>
            </a:r>
            <a:br>
              <a:rPr lang="en-US" sz="2000" dirty="0">
                <a:solidFill>
                  <a:schemeClr val="bg1"/>
                </a:solidFill>
                <a:latin typeface="+mn-lt"/>
              </a:rPr>
            </a:br>
            <a:r>
              <a:rPr lang="en-US" sz="2000" dirty="0">
                <a:solidFill>
                  <a:schemeClr val="bg1"/>
                </a:solidFill>
                <a:latin typeface="+mn-lt"/>
              </a:rPr>
              <a:t>Titus Michael Masele</a:t>
            </a:r>
            <a:br>
              <a:rPr lang="en-US" sz="2000" dirty="0">
                <a:solidFill>
                  <a:schemeClr val="bg1"/>
                </a:solidFill>
                <a:latin typeface="+mn-lt"/>
              </a:rPr>
            </a:br>
            <a:r>
              <a:rPr lang="en-US" sz="2000" dirty="0">
                <a:solidFill>
                  <a:schemeClr val="bg1"/>
                </a:solidFill>
                <a:latin typeface="+mn-lt"/>
              </a:rPr>
              <a:t>Major</a:t>
            </a:r>
          </a:p>
          <a:p>
            <a:pPr marL="101597" indent="0" algn="ctr">
              <a:buNone/>
            </a:pPr>
            <a:r>
              <a:rPr lang="en-US" sz="2000" dirty="0">
                <a:solidFill>
                  <a:schemeClr val="bg1"/>
                </a:solidFill>
                <a:latin typeface="+mn-lt"/>
              </a:rPr>
              <a:t>CS506 Winter 2026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0" y="4352827"/>
            <a:ext cx="1219200" cy="12192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0" y="3001719"/>
            <a:ext cx="1219200" cy="12192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A7E5350-9E11-1F3F-2A00-4B9967ED2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0" y="1650611"/>
            <a:ext cx="1219200" cy="12192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3F1CE-5B8D-011A-C647-20FD6ED87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2ACA9-1CDB-C41F-CBA9-ABE1B2229D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263248"/>
                </a:solidFill>
                <a:effectLst/>
                <a:latin typeface="Arial" panose="020B0604020202020204" pitchFamily="34" charset="0"/>
              </a:rPr>
              <a:t>Introduction to PyTorch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263248"/>
                </a:solidFill>
                <a:effectLst/>
                <a:latin typeface="Arial" panose="020B0604020202020204" pitchFamily="34" charset="0"/>
              </a:rPr>
              <a:t>Tensors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263248"/>
                </a:solidFill>
                <a:effectLst/>
                <a:latin typeface="Arial" panose="020B0604020202020204" pitchFamily="34" charset="0"/>
              </a:rPr>
              <a:t>Datasets and DataLoader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263248"/>
                </a:solidFill>
                <a:effectLst/>
                <a:latin typeface="Arial" panose="020B0604020202020204" pitchFamily="34" charset="0"/>
              </a:rPr>
              <a:t>Transforms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263248"/>
                </a:solidFill>
                <a:effectLst/>
                <a:latin typeface="Arial" panose="020B0604020202020204" pitchFamily="34" charset="0"/>
              </a:rPr>
              <a:t>Neural Networks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263248"/>
                </a:solidFill>
                <a:effectLst/>
                <a:latin typeface="Arial" panose="020B0604020202020204" pitchFamily="34" charset="0"/>
              </a:rPr>
              <a:t>Training with torch.autograd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</a:p>
          <a:p>
            <a:pPr marL="0" indent="0" algn="l" rtl="0" fontAlgn="base"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879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42091-1DF6-161E-B4CA-39718CC0A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What is PyTorch?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9B510-66FE-8223-CFF7-2EA81CB73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263248"/>
                </a:solidFill>
                <a:effectLst/>
                <a:latin typeface="Arial" panose="020B0604020202020204" pitchFamily="34" charset="0"/>
              </a:rPr>
              <a:t>Open-source deep learning framework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263248"/>
                </a:solidFill>
                <a:effectLst/>
                <a:latin typeface="Arial" panose="020B0604020202020204" pitchFamily="34" charset="0"/>
              </a:rPr>
              <a:t>Developed by Meta AI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263248"/>
                </a:solidFill>
                <a:effectLst/>
                <a:latin typeface="Arial" panose="020B0604020202020204" pitchFamily="34" charset="0"/>
              </a:rPr>
              <a:t>Python based 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263248"/>
                </a:solidFill>
                <a:effectLst/>
                <a:latin typeface="Arial" panose="020B0604020202020204" pitchFamily="34" charset="0"/>
              </a:rPr>
              <a:t>It is used for research and production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</a:p>
          <a:p>
            <a:pPr marL="0" indent="0" algn="l" rtl="0" fontAlgn="base">
              <a:buNone/>
            </a:pPr>
            <a:endParaRPr lang="en-US" sz="20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531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029DB-05D8-C3FE-B567-763A6C410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Why PyTorch?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B8CE4-997D-94D8-8150-56BC77CA7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263248"/>
                </a:solidFill>
                <a:effectLst/>
                <a:latin typeface="Arial" panose="020B0604020202020204" pitchFamily="34" charset="0"/>
              </a:rPr>
              <a:t>Easy to learn and use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263248"/>
                </a:solidFill>
                <a:effectLst/>
                <a:latin typeface="Arial" panose="020B0604020202020204" pitchFamily="34" charset="0"/>
              </a:rPr>
              <a:t>Dynamic computation and graph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263248"/>
                </a:solidFill>
                <a:effectLst/>
                <a:latin typeface="Arial" panose="020B0604020202020204" pitchFamily="34" charset="0"/>
              </a:rPr>
              <a:t>Flexible and intuitive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263248"/>
                </a:solidFill>
                <a:effectLst/>
                <a:latin typeface="Arial" panose="020B0604020202020204" pitchFamily="34" charset="0"/>
              </a:rPr>
              <a:t>Strong community support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</a:p>
          <a:p>
            <a:pPr marL="0" indent="0" algn="l" rtl="0" fontAlgn="base">
              <a:buNone/>
            </a:pP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0508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4BE29-C772-0623-C564-DEB53FFE8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Applications of PyTorch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269B7-0619-BE62-3DE3-4CA9C4399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263248"/>
                </a:solidFill>
                <a:effectLst/>
                <a:latin typeface="Arial" panose="020B0604020202020204" pitchFamily="34" charset="0"/>
              </a:rPr>
              <a:t>Natural Language Processing(NLP)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263248"/>
                </a:solidFill>
                <a:effectLst/>
                <a:latin typeface="Arial" panose="020B0604020202020204" pitchFamily="34" charset="0"/>
              </a:rPr>
              <a:t>Computer Vision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263248"/>
                </a:solidFill>
                <a:effectLst/>
                <a:latin typeface="Arial" panose="020B0604020202020204" pitchFamily="34" charset="0"/>
              </a:rPr>
              <a:t>Speech Recognition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263248"/>
                </a:solidFill>
                <a:effectLst/>
                <a:latin typeface="Arial" panose="020B0604020202020204" pitchFamily="34" charset="0"/>
              </a:rPr>
              <a:t>Healthcare AI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263248"/>
                </a:solidFill>
                <a:effectLst/>
                <a:latin typeface="Arial" panose="020B0604020202020204" pitchFamily="34" charset="0"/>
              </a:rPr>
              <a:t>Autonomous systems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</a:p>
          <a:p>
            <a:pPr marL="0" indent="0" algn="l" rtl="0" fontAlgn="base">
              <a:buNone/>
            </a:pP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5280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1A355-46B9-5034-0E93-4B810E9E9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What are Tensors?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B140B-AA2E-2DC9-3C3E-CAAB9361D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263248"/>
                </a:solidFill>
                <a:effectLst/>
                <a:latin typeface="Arial" panose="020B0604020202020204" pitchFamily="34" charset="0"/>
              </a:rPr>
              <a:t>Multi-dimensional array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263248"/>
                </a:solidFill>
                <a:effectLst/>
                <a:latin typeface="Arial" panose="020B0604020202020204" pitchFamily="34" charset="0"/>
              </a:rPr>
              <a:t>Core data structure in PyTorch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263248"/>
                </a:solidFill>
                <a:effectLst/>
                <a:latin typeface="Arial" panose="020B0604020202020204" pitchFamily="34" charset="0"/>
              </a:rPr>
              <a:t>Similar to NumPy arrays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</a:p>
          <a:p>
            <a:pPr marL="0" indent="0" algn="l" rtl="0" fontAlgn="base">
              <a:buNone/>
            </a:pP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882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89DD1-262B-275A-D4D1-1F42C9D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Tensor Features: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9C9FF-4B30-3431-FFF0-5E43547EE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Tensor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GPU acceleration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Supports mathematical operations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Efficient data handling</a:t>
            </a:r>
          </a:p>
          <a:p>
            <a:pPr marL="0" indent="0" algn="l" rtl="0" fontAlgn="base">
              <a:buNone/>
            </a:pP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478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357EB-1DA6-49B3-3EC8-CBB2CEC6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Tensor Example(Code)</a:t>
            </a:r>
          </a:p>
        </p:txBody>
      </p:sp>
      <p:pic>
        <p:nvPicPr>
          <p:cNvPr id="1026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2F913AD-D0F3-87A6-0541-769BE1D5803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80855"/>
            <a:ext cx="10515600" cy="4040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3560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D14AA-34A0-FF02-7FFB-5066428E6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Tensor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28B2D-093B-EA14-0D76-9F92BD4BF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Addition, multiplication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Reshaping tensors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Matrix operations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155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0D4C0-8850-223B-2AD2-59B273864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Tensor Operations</a:t>
            </a:r>
          </a:p>
        </p:txBody>
      </p:sp>
      <p:pic>
        <p:nvPicPr>
          <p:cNvPr id="2050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DF8FB6B-DC7B-05E7-2AEE-C34C84497DB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80855"/>
            <a:ext cx="10515600" cy="4040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5200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94456-C649-EE50-4629-0F621063E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GPU Acceleration</a:t>
            </a:r>
          </a:p>
        </p:txBody>
      </p:sp>
      <p:pic>
        <p:nvPicPr>
          <p:cNvPr id="3074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DD87529-3AE1-5560-CBC7-C5D0E62BC51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80855"/>
            <a:ext cx="10515600" cy="4040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2196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CA47A-6591-71AC-C060-4BE9248CF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Datasets in Pytorch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7097B-2D95-6AA4-5F7F-176CB3B87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Used to store and manage data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Example: MNIST dataset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06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2D1CA-FA50-1334-DEFA-CDE4DF510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Why Data Handling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63541-6EAC-3BCB-4D7C-B82CAC90F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263248"/>
                </a:solidFill>
                <a:effectLst/>
                <a:latin typeface="Arial" panose="020B0604020202020204" pitchFamily="34" charset="0"/>
              </a:rPr>
              <a:t>Efficient training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263248"/>
                </a:solidFill>
                <a:effectLst/>
                <a:latin typeface="Arial" panose="020B0604020202020204" pitchFamily="34" charset="0"/>
              </a:rPr>
              <a:t>Handle large datasets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263248"/>
                </a:solidFill>
                <a:effectLst/>
                <a:latin typeface="Arial" panose="020B0604020202020204" pitchFamily="34" charset="0"/>
              </a:rPr>
              <a:t>Supports batching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6845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4BA32-8760-3D27-7284-375031A4B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Custom Dataset</a:t>
            </a:r>
          </a:p>
        </p:txBody>
      </p:sp>
      <p:pic>
        <p:nvPicPr>
          <p:cNvPr id="4098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DE9056C-FC67-1D68-992D-E43DD158535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975644"/>
            <a:ext cx="9753600" cy="405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6349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2025A-326E-8466-5021-711A9E987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DataLoader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D1F44-E055-20FF-E313-A6C9837AF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Loads data in batches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Supports shuffling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Improves training efficiency</a:t>
            </a:r>
          </a:p>
        </p:txBody>
      </p:sp>
    </p:spTree>
    <p:extLst>
      <p:ext uri="{BB962C8B-B14F-4D97-AF65-F5344CB8AC3E}">
        <p14:creationId xmlns:p14="http://schemas.microsoft.com/office/powerpoint/2010/main" val="3132480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A262D-9925-D104-9A11-655BD19E7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DataLoader Example</a:t>
            </a:r>
          </a:p>
        </p:txBody>
      </p:sp>
      <p:pic>
        <p:nvPicPr>
          <p:cNvPr id="5122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1BF5652-61D3-4448-EB28-CE35A1FEF4F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772" y="1825625"/>
            <a:ext cx="968645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2279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06665-C392-5745-6596-C828E663F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Data Pipeline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CDC78-7B75-522E-7F76-A11255417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endParaRPr lang="en-US" sz="2000" b="0" i="0" u="none" strike="noStrike" dirty="0">
              <a:solidFill>
                <a:srgbClr val="263248"/>
              </a:solidFill>
              <a:effectLst/>
              <a:latin typeface="Arial" panose="020B0604020202020204" pitchFamily="34" charset="0"/>
            </a:endParaRPr>
          </a:p>
          <a:p>
            <a:pPr marL="0" indent="0" algn="just">
              <a:buNone/>
            </a:pPr>
            <a:endParaRPr lang="en-US" sz="2000" dirty="0">
              <a:solidFill>
                <a:srgbClr val="263248"/>
              </a:solidFill>
              <a:latin typeface="Arial" panose="020B0604020202020204" pitchFamily="34" charset="0"/>
            </a:endParaRPr>
          </a:p>
          <a:p>
            <a:pPr marL="0" indent="0" algn="just">
              <a:buNone/>
            </a:pPr>
            <a:endParaRPr lang="en-US" sz="2000" b="0" i="0" u="none" strike="noStrike" dirty="0">
              <a:solidFill>
                <a:srgbClr val="263248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263248"/>
                </a:solidFill>
                <a:latin typeface="Arial" panose="020B0604020202020204" pitchFamily="34" charset="0"/>
              </a:rPr>
              <a:t>                  </a:t>
            </a:r>
            <a:r>
              <a:rPr lang="en-US" sz="2400" b="0" i="0" u="none" strike="noStrike" dirty="0">
                <a:solidFill>
                  <a:srgbClr val="263248"/>
                </a:solidFill>
                <a:effectLst/>
                <a:latin typeface="Arial" panose="020B0604020202020204" pitchFamily="34" charset="0"/>
              </a:rPr>
              <a:t>Raw Data =&gt; Dataset =&gt;DataLoader =&gt; Batches =&gt; Model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645110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2DF87-5E6B-55CB-A092-34F9903DC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What are Transforms?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4D28A-2561-8495-5F3B-368529BB7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Modify and preprocess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Convert images to tensors</a:t>
            </a:r>
          </a:p>
        </p:txBody>
      </p:sp>
    </p:spTree>
    <p:extLst>
      <p:ext uri="{BB962C8B-B14F-4D97-AF65-F5344CB8AC3E}">
        <p14:creationId xmlns:p14="http://schemas.microsoft.com/office/powerpoint/2010/main" val="28482093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A9589-0DE3-F616-94F9-40D8285A3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Common Transforms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8196A-3C79-0F93-0DD4-C98E52506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Normalize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Resize images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Data augmentation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6495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FF91C-6EA0-5013-AF18-2D5273165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Transform Examples</a:t>
            </a:r>
          </a:p>
        </p:txBody>
      </p:sp>
      <p:pic>
        <p:nvPicPr>
          <p:cNvPr id="6146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E19AA33-62A3-FE5F-6BAB-4EDCAEE3A3E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5905" y="1825625"/>
            <a:ext cx="944019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13637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5EB13-4B4A-02C2-7BEB-BA831D3B0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Why Transforms Matter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9E1F4-1908-B81B-9CE7-B79D14E57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263248"/>
                </a:solidFill>
                <a:effectLst/>
                <a:latin typeface="Arial" panose="020B0604020202020204" pitchFamily="34" charset="0"/>
              </a:rPr>
              <a:t>Improve model accuracy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263248"/>
                </a:solidFill>
                <a:effectLst/>
                <a:latin typeface="Arial" panose="020B0604020202020204" pitchFamily="34" charset="0"/>
              </a:rPr>
              <a:t>Reduce overfitting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263248"/>
                </a:solidFill>
                <a:effectLst/>
                <a:latin typeface="Arial" panose="020B0604020202020204" pitchFamily="34" charset="0"/>
              </a:rPr>
              <a:t>Standardize input data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0838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2DCA8-9453-C030-5594-52E80F97A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Neural Networks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5D4EA-110E-237D-A0F7-544151CB9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Models inspired by the human brain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Learn patterns from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07304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316FA-64AC-BC31-2C81-4CCA5CFF4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Components of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31DCC-0240-DE77-474E-C3C295C9A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Input layer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Hidden layers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Output layer</a:t>
            </a:r>
          </a:p>
        </p:txBody>
      </p:sp>
    </p:spTree>
    <p:extLst>
      <p:ext uri="{BB962C8B-B14F-4D97-AF65-F5344CB8AC3E}">
        <p14:creationId xmlns:p14="http://schemas.microsoft.com/office/powerpoint/2010/main" val="6150407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53DB9-2547-E158-8763-9B04FBA01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Neural Network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96D5E-4552-08D5-539E-E5668FD32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          </a:t>
            </a:r>
            <a:r>
              <a:rPr lang="en-US" b="0" i="0" u="none" strike="noStrike" dirty="0">
                <a:solidFill>
                  <a:srgbClr val="263248"/>
                </a:solidFill>
                <a:effectLst/>
                <a:latin typeface="Arial" panose="020B0604020202020204" pitchFamily="34" charset="0"/>
              </a:rPr>
              <a:t>Input =&gt; Hidden layers =&gt; Output layer =&gt; Output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9232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D0511-253E-100C-A9F5-B5F34FC50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Activation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BCDEE-8643-9069-50E4-5A37E084D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263248"/>
                </a:solidFill>
                <a:effectLst/>
                <a:latin typeface="Arial" panose="020B0604020202020204" pitchFamily="34" charset="0"/>
              </a:rPr>
              <a:t>ReLU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263248"/>
                </a:solidFill>
                <a:effectLst/>
                <a:latin typeface="Arial" panose="020B0604020202020204" pitchFamily="34" charset="0"/>
              </a:rPr>
              <a:t>Sigmoid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263248"/>
                </a:solidFill>
                <a:effectLst/>
                <a:latin typeface="Arial" panose="020B0604020202020204" pitchFamily="34" charset="0"/>
              </a:rPr>
              <a:t>Softmax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263248"/>
                </a:solidFill>
                <a:effectLst/>
                <a:latin typeface="Arial" panose="020B0604020202020204" pitchFamily="34" charset="0"/>
              </a:rPr>
              <a:t>Introduce non-linearity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7133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C4BEC-C81B-0EC9-A7D5-4A73C75B5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Build a Neural Network</a:t>
            </a:r>
          </a:p>
        </p:txBody>
      </p:sp>
      <p:pic>
        <p:nvPicPr>
          <p:cNvPr id="7170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7664684-D687-EB66-DE40-FC3A51F4F72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524" y="1825625"/>
            <a:ext cx="10186951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18061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2E8DC-C75B-11C8-C269-B6A9CE266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Loss Function and Optimizer</a:t>
            </a:r>
          </a:p>
        </p:txBody>
      </p:sp>
      <p:pic>
        <p:nvPicPr>
          <p:cNvPr id="8194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ED0ACC3-7E8F-7993-B817-39A7E1C30BF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188474"/>
            <a:ext cx="10515600" cy="3625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10368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6FDEB-E37A-5A74-DB5E-3E120F1EF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What is Autograd?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BD820-9F83-C0B6-3AFD-20D7FFA26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Automatic differentiation system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Computes gradients automatically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8846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45EC3-E9AA-10CB-EEFB-99E45A90E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Training with Autograd</a:t>
            </a:r>
          </a:p>
        </p:txBody>
      </p:sp>
      <p:pic>
        <p:nvPicPr>
          <p:cNvPr id="9218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1A1A728-E265-C402-C622-8B93ED6DD07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52800"/>
            <a:ext cx="10515600" cy="4096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75219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24447-0B03-7EF8-D605-B349A3913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Training Process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89EBF-FEAB-2D17-CA34-04F2904AA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b="0" i="0" u="none" strike="noStrike" dirty="0">
                <a:solidFill>
                  <a:srgbClr val="263248"/>
                </a:solidFill>
                <a:effectLst/>
                <a:latin typeface="Arial" panose="020B0604020202020204" pitchFamily="34" charset="0"/>
              </a:rPr>
              <a:t>     Input =&gt; Model =&gt; Output =&gt; Loss=&gt; Backpropagation =&gt; Update Weights =&gt; Repeat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794243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AE87F-F663-2074-A1A7-3B7D05BB9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Advantages of PyTorch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3EDA8-A4E7-0154-1750-2326D22E9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Flexible and dynamic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Easy debugging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GPU support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6715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003C3-51B0-C41B-6962-742942FE6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407DD-F8EC-8ABA-5ADE-A9955C1E4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PyTorch is powerful and beginner-friendly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Widely used in AI 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Essential tool for deep learning</a:t>
            </a:r>
          </a:p>
        </p:txBody>
      </p:sp>
    </p:spTree>
    <p:extLst>
      <p:ext uri="{BB962C8B-B14F-4D97-AF65-F5344CB8AC3E}">
        <p14:creationId xmlns:p14="http://schemas.microsoft.com/office/powerpoint/2010/main" val="28109612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3E5F0-F9BF-2CFB-6CEE-715B33840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81EF1-7B93-5D1A-A8F8-8E32B5BF1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253" y="1690688"/>
            <a:ext cx="10515600" cy="4351338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494C4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Chollet, F. (2018). </a:t>
            </a:r>
            <a:r>
              <a:rPr lang="en-US" sz="2000" b="0" i="1" dirty="0">
                <a:solidFill>
                  <a:srgbClr val="494C4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Deep Learning with Python</a:t>
            </a:r>
            <a:r>
              <a:rPr lang="en-US" sz="2000" b="0" i="0" dirty="0">
                <a:solidFill>
                  <a:srgbClr val="494C4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 Manning Publications. (ISBN 9781617294433) 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494C4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Chapter 8: Generative Deep Learning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494C4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Microsoft. (n.d.). </a:t>
            </a:r>
            <a:r>
              <a:rPr lang="en-US" sz="2000" b="0" i="1" dirty="0">
                <a:solidFill>
                  <a:srgbClr val="494C4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Introduction to generative AI concepts</a:t>
            </a:r>
            <a:r>
              <a:rPr lang="en-US" sz="2000" b="0" i="0" dirty="0">
                <a:solidFill>
                  <a:srgbClr val="494C4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n-US" sz="2000" b="0" i="0" dirty="0">
                <a:solidFill>
                  <a:srgbClr val="494C4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b="0" i="0" dirty="0">
              <a:solidFill>
                <a:srgbClr val="494C4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494C4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Machine Learning TV. (2018, July 27). </a:t>
            </a:r>
            <a:r>
              <a:rPr lang="en-US" sz="2000" b="0" i="1" dirty="0">
                <a:solidFill>
                  <a:srgbClr val="494C4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Simple deep neural networks for text classification</a:t>
            </a:r>
            <a:r>
              <a:rPr lang="en-US" sz="2000" b="0" i="0" dirty="0">
                <a:solidFill>
                  <a:srgbClr val="494C4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[Video]. YouTube.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494C4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Rasa. (2020, March 16). </a:t>
            </a:r>
            <a:r>
              <a:rPr lang="en-US" sz="2000" b="0" i="1" dirty="0">
                <a:solidFill>
                  <a:srgbClr val="494C4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NLP for developers: Word embeddings | Rasa</a:t>
            </a:r>
            <a:r>
              <a:rPr lang="en-US" sz="2000" b="0" i="0" dirty="0">
                <a:solidFill>
                  <a:srgbClr val="494C4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[Video]. YouTube.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494C4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Coding Train. (2018, October 19). </a:t>
            </a:r>
            <a:r>
              <a:rPr lang="en-US" sz="2000" b="0" i="1" dirty="0">
                <a:solidFill>
                  <a:srgbClr val="494C4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12.1: What is word2vec? - Programming with text</a:t>
            </a:r>
            <a:r>
              <a:rPr lang="en-US" sz="2000" b="0" i="0" dirty="0">
                <a:solidFill>
                  <a:srgbClr val="494C4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[Video]. YouTube.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4485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Q&amp;A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34</a:t>
            </a:fld>
            <a:endParaRPr lang="e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701" y="2483558"/>
            <a:ext cx="5870217" cy="234808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3642" y="2483558"/>
            <a:ext cx="2592447" cy="259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282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445</Words>
  <Application>Microsoft Macintosh PowerPoint</Application>
  <PresentationFormat>Widescreen</PresentationFormat>
  <Paragraphs>118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Arvo</vt:lpstr>
      <vt:lpstr>Calibri</vt:lpstr>
      <vt:lpstr>Calibri Light</vt:lpstr>
      <vt:lpstr>Roboto Condensed Light</vt:lpstr>
      <vt:lpstr>Office Theme</vt:lpstr>
      <vt:lpstr>Introduction to PyTorch and Its Applications</vt:lpstr>
      <vt:lpstr>Overview</vt:lpstr>
      <vt:lpstr>What is PyTorch?</vt:lpstr>
      <vt:lpstr>Why PyTorch?</vt:lpstr>
      <vt:lpstr>Applications of PyTorch</vt:lpstr>
      <vt:lpstr>What are Tensors?</vt:lpstr>
      <vt:lpstr>Tensor Features:</vt:lpstr>
      <vt:lpstr>Tensor Example(Code)</vt:lpstr>
      <vt:lpstr>Tensor Operations</vt:lpstr>
      <vt:lpstr>Tensor Operations</vt:lpstr>
      <vt:lpstr>GPU Acceleration</vt:lpstr>
      <vt:lpstr>Datasets in Pytorch</vt:lpstr>
      <vt:lpstr>Why Data Handling Matters</vt:lpstr>
      <vt:lpstr>Custom Dataset</vt:lpstr>
      <vt:lpstr>DataLoader</vt:lpstr>
      <vt:lpstr>DataLoader Example</vt:lpstr>
      <vt:lpstr>Data Pipeline Diagram</vt:lpstr>
      <vt:lpstr>What are Transforms?</vt:lpstr>
      <vt:lpstr>Common Transforms</vt:lpstr>
      <vt:lpstr>Transform Examples</vt:lpstr>
      <vt:lpstr>Why Transforms Matter</vt:lpstr>
      <vt:lpstr>Neural Networks Overview</vt:lpstr>
      <vt:lpstr>Components of Neural Networks</vt:lpstr>
      <vt:lpstr>Neural Network Diagram</vt:lpstr>
      <vt:lpstr>Activation Functions</vt:lpstr>
      <vt:lpstr>Build a Neural Network</vt:lpstr>
      <vt:lpstr>Loss Function and Optimizer</vt:lpstr>
      <vt:lpstr>What is Autograd?</vt:lpstr>
      <vt:lpstr>Training with Autograd</vt:lpstr>
      <vt:lpstr>Training Process Diagram</vt:lpstr>
      <vt:lpstr>Advantages of PyTorch</vt:lpstr>
      <vt:lpstr>Conclusion</vt:lpstr>
      <vt:lpstr>References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PyTorch and Its Applications</dc:title>
  <dc:creator>Ramkrushna Zilpe</dc:creator>
  <cp:lastModifiedBy>Ramkrushna Zilpe</cp:lastModifiedBy>
  <cp:revision>1</cp:revision>
  <dcterms:created xsi:type="dcterms:W3CDTF">2026-03-19T22:12:57Z</dcterms:created>
  <dcterms:modified xsi:type="dcterms:W3CDTF">2026-03-19T23:19:29Z</dcterms:modified>
</cp:coreProperties>
</file>