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7" r:id="rId1"/>
  </p:sldMasterIdLst>
  <p:notesMasterIdLst>
    <p:notesMasterId r:id="rId26"/>
  </p:notesMasterIdLst>
  <p:sldIdLst>
    <p:sldId id="256" r:id="rId2"/>
    <p:sldId id="274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76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879B12-EA2E-8346-6A5E-BB2545B74CC8}" v="20" dt="2025-02-26T16:49:18.073"/>
  </p1510:revLst>
</p1510:revInfo>
</file>

<file path=ppt/tableStyles.xml><?xml version="1.0" encoding="utf-8"?>
<a:tblStyleLst xmlns:a="http://schemas.openxmlformats.org/drawingml/2006/main" def="{1FE44F72-D7B3-41EB-977B-2E401710A9A8}">
  <a:tblStyle styleId="{1FE44F72-D7B3-41EB-977B-2E401710A9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/>
    <p:restoredTop sz="94206"/>
  </p:normalViewPr>
  <p:slideViewPr>
    <p:cSldViewPr snapToGrid="0">
      <p:cViewPr varScale="1">
        <p:scale>
          <a:sx n="98" d="100"/>
          <a:sy n="98" d="100"/>
        </p:scale>
        <p:origin x="6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182385" y="0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+mj-l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4F7D0F-FE46-C945-87EB-0FD3D35652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243277"/>
            <a:ext cx="914400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88954610"/>
      </p:ext>
    </p:extLst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5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63" name="Google Shape;63;p5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64" name="Google Shape;64;p5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67" name="Google Shape;67;p5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70" name="Google Shape;70;p5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71" name="Google Shape;71;p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" name="Google Shape;72;p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6" name="Google Shape;76;p5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36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5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▰"/>
              <a:defRPr sz="2800">
                <a:latin typeface="+mn-l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>
            <a:endParaRPr dirty="0"/>
          </a:p>
        </p:txBody>
      </p:sp>
      <p:sp>
        <p:nvSpPr>
          <p:cNvPr id="80" name="Google Shape;80;p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8F7DB91-7595-E64B-B07D-A30575B2CB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25339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644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tif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B48145-9848-2F4E-A51E-1AF5F3EC5EA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4243277"/>
            <a:ext cx="914400" cy="914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59" r:id="rId3"/>
  </p:sldLayoutIdLst>
  <p:transition>
    <p:fade thruBlk="1"/>
  </p:transition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155576" y="1177120"/>
            <a:ext cx="7193492" cy="9752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3600" b="1" dirty="0"/>
              <a:t>Introduction to Scikit-learn </a:t>
            </a:r>
            <a:br>
              <a:rPr lang="en-US" sz="3600" b="1" dirty="0"/>
            </a:br>
            <a:r>
              <a:rPr lang="en-US" sz="3600" b="1" dirty="0"/>
              <a:t>and its applications</a:t>
            </a:r>
            <a:endParaRPr lang="en-US" sz="3600" dirty="0"/>
          </a:p>
        </p:txBody>
      </p:sp>
      <p:sp>
        <p:nvSpPr>
          <p:cNvPr id="4" name="AutoShape 8" descr="Image result for city university of seattle logo we are all about the finis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Google Shape;214;p13"/>
          <p:cNvSpPr txBox="1">
            <a:spLocks/>
          </p:cNvSpPr>
          <p:nvPr/>
        </p:nvSpPr>
        <p:spPr>
          <a:xfrm>
            <a:off x="12422" y="2406435"/>
            <a:ext cx="6404993" cy="1536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76200" indent="0" algn="ctr">
              <a:buNone/>
            </a:pPr>
            <a:r>
              <a:rPr lang="en-US" sz="1600" dirty="0" err="1">
                <a:solidFill>
                  <a:schemeClr val="bg1"/>
                </a:solidFill>
                <a:latin typeface="+mn-lt"/>
              </a:rPr>
              <a:t>Anushree</a:t>
            </a:r>
            <a:r>
              <a:rPr lang="en-US" sz="1600" dirty="0">
                <a:solidFill>
                  <a:schemeClr val="bg1"/>
                </a:solidFill>
                <a:latin typeface="+mn-lt"/>
              </a:rPr>
              <a:t> Raut</a:t>
            </a:r>
            <a:br>
              <a:rPr lang="en-US" sz="1600" dirty="0">
                <a:solidFill>
                  <a:schemeClr val="bg1"/>
                </a:solidFill>
                <a:latin typeface="+mn-lt"/>
              </a:rPr>
            </a:br>
            <a:r>
              <a:rPr lang="en-US" sz="1600" dirty="0">
                <a:solidFill>
                  <a:schemeClr val="bg1"/>
                </a:solidFill>
                <a:latin typeface="+mn-lt"/>
              </a:rPr>
              <a:t>Amandeep Singh Saran</a:t>
            </a:r>
            <a:br>
              <a:rPr lang="en-US" sz="1600" dirty="0">
                <a:solidFill>
                  <a:schemeClr val="bg1"/>
                </a:solidFill>
                <a:latin typeface="+mn-lt"/>
              </a:rPr>
            </a:br>
            <a:r>
              <a:rPr lang="en-US" sz="1600" dirty="0">
                <a:solidFill>
                  <a:schemeClr val="bg1"/>
                </a:solidFill>
                <a:latin typeface="+mn-lt"/>
              </a:rPr>
              <a:t>Titus Michael </a:t>
            </a:r>
            <a:r>
              <a:rPr lang="en-US" sz="1600" dirty="0" err="1">
                <a:solidFill>
                  <a:schemeClr val="bg1"/>
                </a:solidFill>
                <a:latin typeface="+mn-lt"/>
              </a:rPr>
              <a:t>Masele</a:t>
            </a:r>
            <a:br>
              <a:rPr lang="en-US" sz="1600" dirty="0">
                <a:solidFill>
                  <a:schemeClr val="bg1"/>
                </a:solidFill>
                <a:latin typeface="+mn-lt"/>
              </a:rPr>
            </a:br>
            <a:r>
              <a:rPr lang="en-US" sz="1600" dirty="0">
                <a:solidFill>
                  <a:schemeClr val="bg1"/>
                </a:solidFill>
                <a:latin typeface="+mn-lt"/>
              </a:rPr>
              <a:t>Major</a:t>
            </a:r>
            <a:endParaRPr lang="en-US" dirty="0">
              <a:solidFill>
                <a:schemeClr val="bg1"/>
              </a:solidFill>
              <a:latin typeface="+mn-lt"/>
            </a:endParaRPr>
          </a:p>
          <a:p>
            <a:pPr marL="76200" indent="0" algn="ctr">
              <a:buNone/>
            </a:pPr>
            <a:r>
              <a:rPr lang="en-US" sz="1500" dirty="0">
                <a:solidFill>
                  <a:schemeClr val="bg1"/>
                </a:solidFill>
                <a:latin typeface="+mn-lt"/>
              </a:rPr>
              <a:t>CS506 Spring 2025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975" y="3264620"/>
            <a:ext cx="914400" cy="914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975" y="2251289"/>
            <a:ext cx="914400" cy="914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7E5350-9E11-1F3F-2A00-4B9967ED2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975" y="1237958"/>
            <a:ext cx="914400" cy="9144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5" y="1327350"/>
            <a:ext cx="3836747" cy="3145500"/>
          </a:xfrm>
        </p:spPr>
        <p:txBody>
          <a:bodyPr/>
          <a:lstStyle/>
          <a:p>
            <a:pPr>
              <a:defRPr sz="1800"/>
            </a:pPr>
            <a:r>
              <a:rPr lang="en-US" sz="1600" dirty="0"/>
              <a:t>Overview of Scikit-learn</a:t>
            </a:r>
          </a:p>
          <a:p>
            <a:pPr>
              <a:defRPr sz="1800"/>
            </a:pPr>
            <a:r>
              <a:rPr lang="en-US" sz="1600" dirty="0"/>
              <a:t>Basic Features</a:t>
            </a:r>
          </a:p>
          <a:p>
            <a:pPr>
              <a:defRPr sz="1800"/>
            </a:pPr>
            <a:r>
              <a:rPr lang="en-US" sz="1600" dirty="0"/>
              <a:t>Supervised Learning (Linear Regression, SVM)</a:t>
            </a:r>
          </a:p>
          <a:p>
            <a:pPr>
              <a:defRPr sz="1800"/>
            </a:pPr>
            <a:r>
              <a:rPr lang="en-US" sz="1600" dirty="0"/>
              <a:t>Unsupervised Learning (K-Means, GMM)</a:t>
            </a:r>
          </a:p>
          <a:p>
            <a:pPr>
              <a:defRPr sz="1800"/>
            </a:pPr>
            <a:r>
              <a:rPr lang="en-US" sz="1600" dirty="0"/>
              <a:t>Model Selection &amp;</a:t>
            </a:r>
          </a:p>
          <a:p>
            <a:pPr>
              <a:defRPr sz="1800"/>
            </a:pPr>
            <a:r>
              <a:rPr lang="en-US" sz="1600" dirty="0"/>
              <a:t>Visualization Techniques Evaluation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25647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Scikit-learn?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5" y="1327350"/>
            <a:ext cx="3836747" cy="3145500"/>
          </a:xfrm>
        </p:spPr>
        <p:txBody>
          <a:bodyPr/>
          <a:lstStyle/>
          <a:p>
            <a:pPr>
              <a:defRPr sz="1800"/>
            </a:pPr>
            <a:r>
              <a:rPr lang="en-US" sz="1600" dirty="0"/>
              <a:t>Open-source Python ML library</a:t>
            </a:r>
          </a:p>
          <a:p>
            <a:pPr>
              <a:defRPr sz="1800"/>
            </a:pPr>
            <a:r>
              <a:rPr lang="en-US" sz="1600" dirty="0"/>
              <a:t>Built on NumPy, SciPy, matplotlib</a:t>
            </a:r>
          </a:p>
          <a:p>
            <a:pPr>
              <a:defRPr sz="1800"/>
            </a:pPr>
            <a:r>
              <a:rPr lang="en-US" sz="1600" dirty="0"/>
              <a:t>Tools for data mining &amp; analysis</a:t>
            </a:r>
          </a:p>
          <a:p>
            <a:pPr>
              <a:defRPr sz="1800"/>
            </a:pPr>
            <a:r>
              <a:rPr lang="en-US" sz="1600" dirty="0"/>
              <a:t>Widely used in academia &amp; industry</a:t>
            </a:r>
          </a:p>
          <a:p>
            <a:pPr>
              <a:defRPr sz="1800"/>
            </a:pP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12691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Advantages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5" y="1327350"/>
            <a:ext cx="3836747" cy="3145500"/>
          </a:xfrm>
        </p:spPr>
        <p:txBody>
          <a:bodyPr/>
          <a:lstStyle/>
          <a:p>
            <a:pPr>
              <a:defRPr sz="1800"/>
            </a:pPr>
            <a:r>
              <a:rPr lang="en-US" sz="1600" dirty="0"/>
              <a:t>User-friendly, consistent API</a:t>
            </a:r>
          </a:p>
          <a:p>
            <a:pPr>
              <a:defRPr sz="1800"/>
            </a:pPr>
            <a:r>
              <a:rPr lang="en-US" sz="1600" dirty="0"/>
              <a:t>Wide range of algorithms</a:t>
            </a:r>
          </a:p>
          <a:p>
            <a:pPr>
              <a:defRPr sz="1800"/>
            </a:pPr>
            <a:r>
              <a:rPr lang="en-US" sz="1600" dirty="0"/>
              <a:t>Preprocessing &amp; feature selection</a:t>
            </a:r>
          </a:p>
          <a:p>
            <a:pPr>
              <a:defRPr sz="1800"/>
            </a:pPr>
            <a:r>
              <a:rPr lang="en-US" sz="1600" dirty="0"/>
              <a:t>Strong community &amp; documentation</a:t>
            </a:r>
          </a:p>
          <a:p>
            <a:pPr>
              <a:defRPr sz="1800"/>
            </a:pP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08487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Features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5" y="1327350"/>
            <a:ext cx="3836747" cy="3145500"/>
          </a:xfrm>
        </p:spPr>
        <p:txBody>
          <a:bodyPr/>
          <a:lstStyle/>
          <a:p>
            <a:endParaRPr lang="en-US" sz="1600" dirty="0"/>
          </a:p>
          <a:p>
            <a:pPr>
              <a:defRPr sz="1800"/>
            </a:pPr>
            <a:r>
              <a:rPr lang="en-US" sz="1600" dirty="0"/>
              <a:t>Data preprocessing: scaling, normalization, encoding</a:t>
            </a:r>
          </a:p>
          <a:p>
            <a:pPr>
              <a:defRPr sz="1800"/>
            </a:pPr>
            <a:r>
              <a:rPr lang="en-US" sz="1600" dirty="0"/>
              <a:t>Supervised learning</a:t>
            </a:r>
          </a:p>
          <a:p>
            <a:pPr>
              <a:defRPr sz="1800"/>
            </a:pPr>
            <a:r>
              <a:rPr lang="en-US" sz="1600" dirty="0"/>
              <a:t>Unsupervised learning</a:t>
            </a:r>
          </a:p>
          <a:p>
            <a:pPr>
              <a:defRPr sz="1800"/>
            </a:pPr>
            <a:r>
              <a:rPr lang="en-US" sz="1600" dirty="0"/>
              <a:t>Model evaluation &amp; selection</a:t>
            </a:r>
          </a:p>
          <a:p>
            <a:pPr>
              <a:defRPr sz="1800"/>
            </a:pPr>
            <a:r>
              <a:rPr lang="en-US" sz="1600" dirty="0"/>
              <a:t>Pipeline support</a:t>
            </a:r>
          </a:p>
          <a:p>
            <a:pPr>
              <a:defRPr sz="1800"/>
            </a:pP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96528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Scikit-learn Workflow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5" y="1327350"/>
            <a:ext cx="3836747" cy="3145500"/>
          </a:xfrm>
        </p:spPr>
        <p:txBody>
          <a:bodyPr/>
          <a:lstStyle/>
          <a:p>
            <a:pPr>
              <a:defRPr sz="1800"/>
            </a:pPr>
            <a:r>
              <a:rPr lang="en-US" sz="1600" dirty="0"/>
              <a:t>Load Data</a:t>
            </a:r>
          </a:p>
          <a:p>
            <a:pPr>
              <a:defRPr sz="1800"/>
            </a:pPr>
            <a:r>
              <a:rPr lang="en-US" sz="1600" dirty="0"/>
              <a:t>Preprocess Data</a:t>
            </a:r>
          </a:p>
          <a:p>
            <a:pPr>
              <a:defRPr sz="1800"/>
            </a:pPr>
            <a:r>
              <a:rPr lang="en-US" sz="1600" dirty="0"/>
              <a:t>Split Train/Test</a:t>
            </a:r>
          </a:p>
          <a:p>
            <a:pPr>
              <a:defRPr sz="1800"/>
            </a:pPr>
            <a:r>
              <a:rPr lang="en-US" sz="1600" dirty="0"/>
              <a:t>Choose Model</a:t>
            </a:r>
          </a:p>
          <a:p>
            <a:pPr>
              <a:defRPr sz="1800"/>
            </a:pPr>
            <a:r>
              <a:rPr lang="en-US" sz="1600" dirty="0"/>
              <a:t>Train Model</a:t>
            </a:r>
          </a:p>
          <a:p>
            <a:pPr>
              <a:defRPr sz="1800"/>
            </a:pPr>
            <a:r>
              <a:rPr lang="en-US" sz="1600" dirty="0"/>
              <a:t>Evaluate Model</a:t>
            </a:r>
          </a:p>
          <a:p>
            <a:pPr>
              <a:defRPr sz="1800"/>
            </a:pPr>
            <a:r>
              <a:rPr lang="en-US" sz="1600" dirty="0"/>
              <a:t>Predict / Deploy</a:t>
            </a:r>
          </a:p>
          <a:p>
            <a:pPr>
              <a:defRPr sz="1800"/>
            </a:pP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50159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7550"/>
            <a:ext cx="7180194" cy="766200"/>
          </a:xfrm>
        </p:spPr>
        <p:txBody>
          <a:bodyPr/>
          <a:lstStyle/>
          <a:p>
            <a:r>
              <a:rPr lang="en-US" dirty="0"/>
              <a:t>Supervised Learning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5" y="1327350"/>
            <a:ext cx="3836747" cy="3145500"/>
          </a:xfrm>
        </p:spPr>
        <p:txBody>
          <a:bodyPr/>
          <a:lstStyle/>
          <a:p>
            <a:pPr>
              <a:defRPr sz="1800"/>
            </a:pPr>
            <a:r>
              <a:rPr lang="en-US" sz="1600" dirty="0"/>
              <a:t>Learn from labeled data</a:t>
            </a:r>
          </a:p>
          <a:p>
            <a:pPr>
              <a:defRPr sz="1800"/>
            </a:pPr>
            <a:r>
              <a:rPr lang="en-US" sz="1600" dirty="0"/>
              <a:t>Predict outputs from inputs</a:t>
            </a:r>
          </a:p>
          <a:p>
            <a:pPr>
              <a:defRPr sz="1800"/>
            </a:pPr>
            <a:r>
              <a:rPr lang="en-US" sz="1600" dirty="0"/>
              <a:t>Regression → Continuous</a:t>
            </a:r>
          </a:p>
          <a:p>
            <a:pPr>
              <a:defRPr sz="1800"/>
            </a:pPr>
            <a:r>
              <a:rPr lang="en-US" sz="1600" dirty="0"/>
              <a:t>Classification → Categorical</a:t>
            </a:r>
          </a:p>
          <a:p>
            <a:pPr>
              <a:defRPr sz="1800"/>
            </a:pP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36889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Example 1 – Linear Regression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93E079-D5B0-5E3D-6DF9-E983B1D7BE8B}"/>
              </a:ext>
            </a:extLst>
          </p:cNvPr>
          <p:cNvSpPr txBox="1"/>
          <p:nvPr/>
        </p:nvSpPr>
        <p:spPr>
          <a:xfrm>
            <a:off x="718458" y="1410789"/>
            <a:ext cx="43364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1800"/>
            </a:pPr>
            <a:r>
              <a:rPr lang="en-US" sz="1600" dirty="0"/>
              <a:t>Predict continuous values (e.g., house prices)</a:t>
            </a:r>
          </a:p>
        </p:txBody>
      </p:sp>
      <p:pic>
        <p:nvPicPr>
          <p:cNvPr id="6" name="Picture 5" descr="linear_regression.png">
            <a:extLst>
              <a:ext uri="{FF2B5EF4-FFF2-40B4-BE49-F238E27FC236}">
                <a16:creationId xmlns:a16="http://schemas.microsoft.com/office/drawing/2014/main" id="{459AF07F-74C9-D45D-4541-9E7A9E4A7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336" y="1749343"/>
            <a:ext cx="5148278" cy="339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595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Linear Regression – Application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65A364-0F96-7EAB-3E00-D3FC6B708319}"/>
              </a:ext>
            </a:extLst>
          </p:cNvPr>
          <p:cNvSpPr txBox="1"/>
          <p:nvPr/>
        </p:nvSpPr>
        <p:spPr>
          <a:xfrm>
            <a:off x="814275" y="1158775"/>
            <a:ext cx="3156633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050" dirty="0"/>
          </a:p>
          <a:p>
            <a:pPr>
              <a:defRPr sz="1800"/>
            </a:pPr>
            <a:r>
              <a:rPr sz="1350" dirty="0"/>
              <a:t>Metrics: R² score, Mean Squared Error</a:t>
            </a:r>
            <a:br>
              <a:rPr sz="1350" dirty="0"/>
            </a:br>
            <a:r>
              <a:rPr sz="1350" dirty="0"/>
              <a:t>Dataset: synthetic / Boston housing</a:t>
            </a:r>
          </a:p>
        </p:txBody>
      </p:sp>
      <p:pic>
        <p:nvPicPr>
          <p:cNvPr id="6" name="Picture 5" descr="linear_regression.png">
            <a:extLst>
              <a:ext uri="{FF2B5EF4-FFF2-40B4-BE49-F238E27FC236}">
                <a16:creationId xmlns:a16="http://schemas.microsoft.com/office/drawing/2014/main" id="{FA33BBAA-963C-0E4B-0034-A748CBA32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481" y="1740876"/>
            <a:ext cx="5486400" cy="319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415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Example 2 – Support Vector Machine (SVM)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3AC4E5-3222-46A4-8A7A-991B9FAD0FF6}"/>
              </a:ext>
            </a:extLst>
          </p:cNvPr>
          <p:cNvSpPr txBox="1"/>
          <p:nvPr/>
        </p:nvSpPr>
        <p:spPr>
          <a:xfrm>
            <a:off x="1111022" y="1158775"/>
            <a:ext cx="519565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050" dirty="0"/>
          </a:p>
          <a:p>
            <a:pPr>
              <a:defRPr sz="1800"/>
            </a:pPr>
            <a:r>
              <a:rPr sz="1350" dirty="0"/>
              <a:t>Used for classification tasks, finds optimal separating hyperplane.</a:t>
            </a:r>
          </a:p>
        </p:txBody>
      </p:sp>
      <p:pic>
        <p:nvPicPr>
          <p:cNvPr id="6" name="Picture 5" descr="svm_boundary.png">
            <a:extLst>
              <a:ext uri="{FF2B5EF4-FFF2-40B4-BE49-F238E27FC236}">
                <a16:creationId xmlns:a16="http://schemas.microsoft.com/office/drawing/2014/main" id="{FBCCC45E-900E-9564-1041-53FD56DF1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556239"/>
            <a:ext cx="5486400" cy="314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806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SVM – Implementation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E0BBC-867D-8C18-67ED-C333D408EF11}"/>
              </a:ext>
            </a:extLst>
          </p:cNvPr>
          <p:cNvSpPr txBox="1"/>
          <p:nvPr/>
        </p:nvSpPr>
        <p:spPr>
          <a:xfrm>
            <a:off x="814275" y="1257440"/>
            <a:ext cx="43586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lang="en-US" sz="1600" dirty="0"/>
              <a:t>Code: SVC(kernel='linear')</a:t>
            </a:r>
            <a:br>
              <a:rPr lang="en-US" sz="1600" dirty="0"/>
            </a:br>
            <a:r>
              <a:rPr lang="en-US" sz="1600" dirty="0"/>
              <a:t>Visual: Decision boundary</a:t>
            </a:r>
          </a:p>
        </p:txBody>
      </p:sp>
      <p:pic>
        <p:nvPicPr>
          <p:cNvPr id="7" name="Picture 6" descr="svm_boundary.png">
            <a:extLst>
              <a:ext uri="{FF2B5EF4-FFF2-40B4-BE49-F238E27FC236}">
                <a16:creationId xmlns:a16="http://schemas.microsoft.com/office/drawing/2014/main" id="{74920A35-BA2A-6B74-4622-F9DC5B1FE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42215"/>
            <a:ext cx="73152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405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Unsupervised Learning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5" y="1327350"/>
            <a:ext cx="3836747" cy="3145500"/>
          </a:xfrm>
        </p:spPr>
        <p:txBody>
          <a:bodyPr/>
          <a:lstStyle/>
          <a:p>
            <a:pPr>
              <a:defRPr sz="1800"/>
            </a:pPr>
            <a:r>
              <a:rPr lang="en-US" sz="1600" dirty="0"/>
              <a:t>Learn from unlabeled data</a:t>
            </a:r>
          </a:p>
          <a:p>
            <a:pPr>
              <a:defRPr sz="1800"/>
            </a:pPr>
            <a:r>
              <a:rPr lang="en-US" sz="1600" dirty="0"/>
              <a:t>Find patterns or clusters</a:t>
            </a:r>
          </a:p>
          <a:p>
            <a:pPr>
              <a:defRPr sz="1800"/>
            </a:pPr>
            <a:r>
              <a:rPr lang="en-US" sz="1600" dirty="0"/>
              <a:t>Tasks: Clustering, Dimensionality Reduction</a:t>
            </a:r>
          </a:p>
          <a:p>
            <a:pPr>
              <a:defRPr sz="1800"/>
            </a:pP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43169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Example 1 – K-Means Clustering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576406-2541-6579-217E-C932DB6F21BC}"/>
              </a:ext>
            </a:extLst>
          </p:cNvPr>
          <p:cNvSpPr txBox="1"/>
          <p:nvPr/>
        </p:nvSpPr>
        <p:spPr>
          <a:xfrm>
            <a:off x="814275" y="1304499"/>
            <a:ext cx="4578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lang="en-US" dirty="0"/>
              <a:t>Groups similar data points into clusters.</a:t>
            </a:r>
          </a:p>
        </p:txBody>
      </p:sp>
      <p:pic>
        <p:nvPicPr>
          <p:cNvPr id="7" name="Picture 6" descr="kmeans.png">
            <a:extLst>
              <a:ext uri="{FF2B5EF4-FFF2-40B4-BE49-F238E27FC236}">
                <a16:creationId xmlns:a16="http://schemas.microsoft.com/office/drawing/2014/main" id="{808A4B3B-55DB-E129-8182-06B2D015D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1697197"/>
            <a:ext cx="6206329" cy="344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2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Example 2 – Gaussian Mixture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8AABF8-74B4-EF1C-9784-A934AA3F4771}"/>
              </a:ext>
            </a:extLst>
          </p:cNvPr>
          <p:cNvSpPr txBox="1"/>
          <p:nvPr/>
        </p:nvSpPr>
        <p:spPr>
          <a:xfrm>
            <a:off x="943792" y="1270503"/>
            <a:ext cx="45785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lang="en-US" sz="1600" dirty="0"/>
              <a:t>Probabilistic clustering using Gaussian distributions.</a:t>
            </a:r>
          </a:p>
        </p:txBody>
      </p:sp>
      <p:pic>
        <p:nvPicPr>
          <p:cNvPr id="7" name="Picture 6" descr="gmm.png">
            <a:extLst>
              <a:ext uri="{FF2B5EF4-FFF2-40B4-BE49-F238E27FC236}">
                <a16:creationId xmlns:a16="http://schemas.microsoft.com/office/drawing/2014/main" id="{6EFA377F-09F4-76BB-099F-9E4F64342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307" y="1549770"/>
            <a:ext cx="5799909" cy="347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466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Model Selection &amp; Evaluation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5" y="1327350"/>
            <a:ext cx="3836747" cy="3145500"/>
          </a:xfrm>
        </p:spPr>
        <p:txBody>
          <a:bodyPr/>
          <a:lstStyle/>
          <a:p>
            <a:pPr>
              <a:defRPr sz="1800"/>
            </a:pPr>
            <a:r>
              <a:rPr lang="en-US" sz="1600" dirty="0"/>
              <a:t>Train/Test split</a:t>
            </a:r>
          </a:p>
          <a:p>
            <a:pPr>
              <a:defRPr sz="1800"/>
            </a:pPr>
            <a:r>
              <a:rPr lang="en-US" sz="1600" dirty="0"/>
              <a:t>Cross-validation</a:t>
            </a:r>
          </a:p>
          <a:p>
            <a:pPr>
              <a:defRPr sz="1800"/>
            </a:pPr>
            <a:r>
              <a:rPr lang="en-US" sz="1600" dirty="0"/>
              <a:t>Grid search / Random search</a:t>
            </a:r>
          </a:p>
          <a:p>
            <a:pPr>
              <a:defRPr sz="1800"/>
            </a:pP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74991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Evaluation Metrics – Regression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5" y="1327350"/>
            <a:ext cx="3836747" cy="3145500"/>
          </a:xfrm>
        </p:spPr>
        <p:txBody>
          <a:bodyPr/>
          <a:lstStyle/>
          <a:p>
            <a:pPr>
              <a:defRPr sz="1800"/>
            </a:pPr>
            <a:r>
              <a:rPr lang="en-US" sz="1600" dirty="0"/>
              <a:t>Mean Squared Error (MSE)</a:t>
            </a:r>
          </a:p>
          <a:p>
            <a:pPr>
              <a:defRPr sz="1800"/>
            </a:pPr>
            <a:r>
              <a:rPr lang="en-US" sz="1600" dirty="0"/>
              <a:t>Root Mean Squared Error (RMSE)</a:t>
            </a:r>
          </a:p>
          <a:p>
            <a:pPr>
              <a:defRPr sz="1800"/>
            </a:pPr>
            <a:r>
              <a:rPr lang="en-US" sz="1600" dirty="0"/>
              <a:t>R² Score</a:t>
            </a:r>
          </a:p>
          <a:p>
            <a:pPr>
              <a:defRPr sz="1800"/>
            </a:pP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00625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Evaluation Metrics – Classification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5" y="1327350"/>
            <a:ext cx="3836747" cy="3145500"/>
          </a:xfrm>
        </p:spPr>
        <p:txBody>
          <a:bodyPr/>
          <a:lstStyle/>
          <a:p>
            <a:pPr>
              <a:defRPr sz="1800"/>
            </a:pPr>
            <a:r>
              <a:rPr lang="en-US" sz="1600" dirty="0"/>
              <a:t>Accuracy</a:t>
            </a:r>
          </a:p>
          <a:p>
            <a:pPr>
              <a:defRPr sz="1800"/>
            </a:pPr>
            <a:r>
              <a:rPr lang="en-US" sz="1600" dirty="0"/>
              <a:t>Precision, Recall, F1-score</a:t>
            </a:r>
          </a:p>
          <a:p>
            <a:pPr>
              <a:defRPr sz="1800"/>
            </a:pPr>
            <a:r>
              <a:rPr lang="en-US" sz="1600" dirty="0"/>
              <a:t>Confusion Matrix</a:t>
            </a:r>
          </a:p>
          <a:p>
            <a:pPr>
              <a:defRPr sz="1800"/>
            </a:pP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27940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Cross-validation</a:t>
            </a:r>
            <a:endParaRPr lang="en-US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5" y="1327350"/>
            <a:ext cx="3836747" cy="3145500"/>
          </a:xfrm>
        </p:spPr>
        <p:txBody>
          <a:bodyPr/>
          <a:lstStyle/>
          <a:p>
            <a:pPr>
              <a:defRPr sz="1800"/>
            </a:pPr>
            <a:r>
              <a:rPr lang="en-US" sz="1600" dirty="0"/>
              <a:t>Split data into k folds</a:t>
            </a:r>
          </a:p>
          <a:p>
            <a:pPr>
              <a:defRPr sz="1800"/>
            </a:pPr>
            <a:r>
              <a:rPr lang="en-US" sz="1600" dirty="0"/>
              <a:t>Train on k-1 folds, test on remaining</a:t>
            </a:r>
          </a:p>
          <a:p>
            <a:pPr>
              <a:defRPr sz="1800"/>
            </a:pPr>
            <a:r>
              <a:rPr lang="en-US" sz="1600" dirty="0"/>
              <a:t>Ensures model generalization</a:t>
            </a:r>
          </a:p>
          <a:p>
            <a:pPr>
              <a:defRPr sz="1800"/>
            </a:pP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41464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Hyperparameter Tuning</a:t>
            </a:r>
            <a:endParaRPr lang="en-US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5" y="1327350"/>
            <a:ext cx="3836747" cy="3145500"/>
          </a:xfrm>
        </p:spPr>
        <p:txBody>
          <a:bodyPr/>
          <a:lstStyle/>
          <a:p>
            <a:pPr>
              <a:defRPr sz="1800"/>
            </a:pPr>
            <a:r>
              <a:rPr lang="en-US" sz="1600" dirty="0"/>
              <a:t>Use </a:t>
            </a:r>
            <a:r>
              <a:rPr lang="en-US" sz="1600" dirty="0" err="1"/>
              <a:t>GridSearchCV</a:t>
            </a:r>
            <a:r>
              <a:rPr lang="en-US" sz="1600" dirty="0"/>
              <a:t> / </a:t>
            </a:r>
            <a:r>
              <a:rPr lang="en-US" sz="1600" dirty="0" err="1"/>
              <a:t>RandomizedSearchCV</a:t>
            </a:r>
            <a:r>
              <a:rPr lang="en-US" sz="1600" dirty="0"/>
              <a:t> to find optimal parameters</a:t>
            </a:r>
          </a:p>
          <a:p>
            <a:pPr marL="76200" indent="0">
              <a:buNone/>
              <a:defRPr sz="1800"/>
            </a:pP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80932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Visualization Techniques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5" y="1327350"/>
            <a:ext cx="3836747" cy="3145500"/>
          </a:xfrm>
        </p:spPr>
        <p:txBody>
          <a:bodyPr/>
          <a:lstStyle/>
          <a:p>
            <a:pPr>
              <a:defRPr sz="1800"/>
            </a:pPr>
            <a:r>
              <a:rPr lang="en-US" sz="1600" dirty="0"/>
              <a:t>Scatter plots, line plots</a:t>
            </a:r>
          </a:p>
          <a:p>
            <a:pPr>
              <a:defRPr sz="1800"/>
            </a:pPr>
            <a:r>
              <a:rPr lang="en-US" sz="1600" dirty="0"/>
              <a:t>Decision boundaries (SVM)</a:t>
            </a:r>
          </a:p>
          <a:p>
            <a:pPr>
              <a:defRPr sz="1800"/>
            </a:pPr>
            <a:r>
              <a:rPr lang="en-US" sz="1600" dirty="0"/>
              <a:t>Cluster plots (K-Means, GMM)</a:t>
            </a:r>
          </a:p>
          <a:p>
            <a:pPr>
              <a:defRPr sz="1800"/>
            </a:pPr>
            <a:r>
              <a:rPr lang="en-US" sz="1600" dirty="0"/>
              <a:t>Learning curves</a:t>
            </a:r>
          </a:p>
          <a:p>
            <a:pPr>
              <a:defRPr sz="1800"/>
            </a:pP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69158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Example – Visualizing Clusters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9E7B4B-9C69-8DBF-009A-BFDD38E9CFD2}"/>
              </a:ext>
            </a:extLst>
          </p:cNvPr>
          <p:cNvSpPr txBox="1"/>
          <p:nvPr/>
        </p:nvSpPr>
        <p:spPr>
          <a:xfrm>
            <a:off x="643346" y="1283565"/>
            <a:ext cx="45785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lang="en-US" sz="1600" dirty="0"/>
              <a:t>See K-Means and GMM plots for actual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413571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Example – Model Performance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5AD124-BF36-E723-3F96-5C3D6C986D96}"/>
              </a:ext>
            </a:extLst>
          </p:cNvPr>
          <p:cNvSpPr txBox="1"/>
          <p:nvPr/>
        </p:nvSpPr>
        <p:spPr>
          <a:xfrm>
            <a:off x="814275" y="1292869"/>
            <a:ext cx="45785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lang="en-US" sz="1400" dirty="0"/>
              <a:t>Regression: predicted vs actual values</a:t>
            </a:r>
            <a:br>
              <a:rPr lang="en-US" sz="1400" dirty="0"/>
            </a:br>
            <a:r>
              <a:rPr lang="en-US" sz="1400" dirty="0"/>
              <a:t>Classification: confusion matrix heatmap</a:t>
            </a:r>
          </a:p>
        </p:txBody>
      </p:sp>
    </p:spTree>
    <p:extLst>
      <p:ext uri="{BB962C8B-B14F-4D97-AF65-F5344CB8AC3E}">
        <p14:creationId xmlns:p14="http://schemas.microsoft.com/office/powerpoint/2010/main" val="1310152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Conclusion</a:t>
            </a:r>
            <a:endParaRPr lang="en-US" sz="4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F7EDE-1536-E6AF-DA1D-CCA431850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275" y="1327350"/>
            <a:ext cx="3836747" cy="3145500"/>
          </a:xfrm>
        </p:spPr>
        <p:txBody>
          <a:bodyPr/>
          <a:lstStyle/>
          <a:p>
            <a:pPr>
              <a:defRPr sz="1800"/>
            </a:pPr>
            <a:r>
              <a:rPr lang="en-US" sz="1600" dirty="0"/>
              <a:t>Scikit-learn provides a comprehensive ML toolkit</a:t>
            </a:r>
          </a:p>
          <a:p>
            <a:pPr>
              <a:defRPr sz="1800"/>
            </a:pPr>
            <a:r>
              <a:rPr lang="en-US" sz="1600" dirty="0"/>
              <a:t>Supports supervised &amp; unsupervised learning</a:t>
            </a:r>
          </a:p>
          <a:p>
            <a:pPr>
              <a:defRPr sz="1800"/>
            </a:pPr>
            <a:r>
              <a:rPr lang="en-US" sz="1600" dirty="0"/>
              <a:t>Enables model selection, evaluation, visualization</a:t>
            </a:r>
          </a:p>
          <a:p>
            <a:pPr>
              <a:defRPr sz="1800"/>
            </a:pPr>
            <a:r>
              <a:rPr lang="en-US" sz="1600" dirty="0"/>
              <a:t>Widely used in industry &amp; research</a:t>
            </a:r>
          </a:p>
          <a:p>
            <a:pPr>
              <a:defRPr sz="1800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5519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275" y="1862668"/>
            <a:ext cx="4402663" cy="17610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731" y="1862668"/>
            <a:ext cx="1944335" cy="194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282085"/>
      </p:ext>
    </p:extLst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</TotalTime>
  <Words>435</Words>
  <Application>Microsoft Macintosh PowerPoint</Application>
  <PresentationFormat>On-screen Show (16:9)</PresentationFormat>
  <Paragraphs>114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Arvo</vt:lpstr>
      <vt:lpstr>Roboto Condensed</vt:lpstr>
      <vt:lpstr>Roboto Condensed Light</vt:lpstr>
      <vt:lpstr>Salerio template</vt:lpstr>
      <vt:lpstr>Introduction to Scikit-learn  and its applications</vt:lpstr>
      <vt:lpstr>Agenda</vt:lpstr>
      <vt:lpstr>What is Scikit-learn?</vt:lpstr>
      <vt:lpstr>Key Advantages</vt:lpstr>
      <vt:lpstr>Basic Features</vt:lpstr>
      <vt:lpstr>Scikit-learn Workflow</vt:lpstr>
      <vt:lpstr>Supervised Learning Overview</vt:lpstr>
      <vt:lpstr>Example 1 – Linear Regression</vt:lpstr>
      <vt:lpstr>Linear Regression – Application Example</vt:lpstr>
      <vt:lpstr>Example 2 – Support Vector Machine (SVM)</vt:lpstr>
      <vt:lpstr>SVM – Implementation Example</vt:lpstr>
      <vt:lpstr>Unsupervised Learning Overview</vt:lpstr>
      <vt:lpstr>Example 1 – K-Means Clustering</vt:lpstr>
      <vt:lpstr>Example 2 – Gaussian Mixture Models</vt:lpstr>
      <vt:lpstr>Model Selection &amp; Evaluation</vt:lpstr>
      <vt:lpstr>Evaluation Metrics – Regression</vt:lpstr>
      <vt:lpstr>Evaluation Metrics – Classification</vt:lpstr>
      <vt:lpstr>Cross-validation</vt:lpstr>
      <vt:lpstr>Hyperparameter Tuning</vt:lpstr>
      <vt:lpstr>Visualization Techniques</vt:lpstr>
      <vt:lpstr>Example – Visualizing Clusters</vt:lpstr>
      <vt:lpstr>Example – Model Performance</vt:lpstr>
      <vt:lpstr>Conclusion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Karthik Dinakaran</dc:creator>
  <cp:lastModifiedBy>Ramkrushna Zilpe</cp:lastModifiedBy>
  <cp:revision>10</cp:revision>
  <dcterms:modified xsi:type="dcterms:W3CDTF">2026-03-01T00:22:00Z</dcterms:modified>
</cp:coreProperties>
</file>